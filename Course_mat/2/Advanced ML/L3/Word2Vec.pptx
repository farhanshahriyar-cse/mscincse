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emf" ContentType="image/x-emf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256" r:id="rId2"/>
    <p:sldId id="297" r:id="rId3"/>
    <p:sldId id="257" r:id="rId4"/>
    <p:sldId id="258" r:id="rId5"/>
    <p:sldId id="259" r:id="rId6"/>
    <p:sldId id="293" r:id="rId7"/>
    <p:sldId id="294" r:id="rId8"/>
    <p:sldId id="295" r:id="rId9"/>
    <p:sldId id="290" r:id="rId10"/>
    <p:sldId id="265" r:id="rId11"/>
    <p:sldId id="281" r:id="rId12"/>
    <p:sldId id="267" r:id="rId13"/>
    <p:sldId id="291" r:id="rId14"/>
    <p:sldId id="270" r:id="rId15"/>
    <p:sldId id="282" r:id="rId16"/>
    <p:sldId id="271" r:id="rId17"/>
    <p:sldId id="272" r:id="rId18"/>
    <p:sldId id="273" r:id="rId19"/>
    <p:sldId id="274" r:id="rId20"/>
    <p:sldId id="275" r:id="rId21"/>
    <p:sldId id="279" r:id="rId22"/>
    <p:sldId id="283" r:id="rId23"/>
    <p:sldId id="277" r:id="rId24"/>
    <p:sldId id="280" r:id="rId25"/>
    <p:sldId id="260" r:id="rId26"/>
    <p:sldId id="278" r:id="rId27"/>
    <p:sldId id="288" r:id="rId28"/>
    <p:sldId id="289" r:id="rId29"/>
    <p:sldId id="292" r:id="rId30"/>
    <p:sldId id="296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-946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CF0B26-3CCD-C149-832A-4CAED2825744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FDB300-628C-5F4D-900F-884862BF65F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5343781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06C307-24C4-9E44-A0C7-9B08A18E5641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ED6225-8644-C24B-BD93-A868338370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3068812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----- Meeting Notes (11/9/17 12:24) -----</a:t>
            </a:r>
          </a:p>
          <a:p>
            <a:r>
              <a:rPr lang="en-US"/>
              <a:t>why is word2vec irregular</a:t>
            </a:r>
          </a:p>
          <a:p>
            <a:r>
              <a:rPr lang="en-US"/>
              <a:t>footer gray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ED6225-8644-C24B-BD93-A868338370A3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7859135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Create sample vectors</a:t>
            </a:r>
          </a:p>
          <a:p>
            <a:endParaRPr lang="en-US" dirty="0" smtClean="0"/>
          </a:p>
          <a:p>
            <a:r>
              <a:rPr lang="en-US" dirty="0" err="1" smtClean="0"/>
              <a:t>Pretraining</a:t>
            </a:r>
            <a:r>
              <a:rPr lang="en-US" dirty="0" smtClean="0"/>
              <a:t> data, using</a:t>
            </a:r>
            <a:r>
              <a:rPr lang="en-US" baseline="0" dirty="0" smtClean="0"/>
              <a:t> python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ED6225-8644-C24B-BD93-A868338370A3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6343435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One context at a time</a:t>
            </a:r>
          </a:p>
          <a:p>
            <a:r>
              <a:rPr lang="en-US" dirty="0" smtClean="0"/>
              <a:t>Update model parameters by predicting context words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ED6225-8644-C24B-BD93-A868338370A3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0252186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49AD7-49FD-1948-8F5F-239386683A27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Source code: git@github.com:vasupsu/IA3_Paper16_ArtifactEvaluation.git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98FE6-F4B4-3247-A13D-0D2ED377FED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91775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40555-C676-4A41-AE67-821484BA0CCD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Source code: git@github.com:vasupsu/IA3_Paper16_ArtifactEvaluation.git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98FE6-F4B4-3247-A13D-0D2ED377FED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80543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043D1-6162-144B-89B5-B1B45A00CD63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Source code: git@github.com:vasupsu/IA3_Paper16_ArtifactEvaluation.git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98FE6-F4B4-3247-A13D-0D2ED377FED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621710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1AB7A-E271-604B-93A3-4C9972178BD1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Source code: git@github.com:vasupsu/IA3_Paper16_ArtifactEvaluation.git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98FE6-F4B4-3247-A13D-0D2ED377FED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642487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6063D-8F81-AB45-BC15-C55FBFF11788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Source code: git@github.com:vasupsu/IA3_Paper16_ArtifactEvaluation.git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98FE6-F4B4-3247-A13D-0D2ED377FED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320425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3E852-6E8C-0142-968A-8871294BAB4B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Source code: git@github.com:vasupsu/IA3_Paper16_ArtifactEvaluation.git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98FE6-F4B4-3247-A13D-0D2ED377FED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82382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93B62-5996-D64A-A828-AA12A2908307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Source code: git@github.com:vasupsu/IA3_Paper16_ArtifactEvaluation.git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98FE6-F4B4-3247-A13D-0D2ED377FED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55447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B0849-85FA-8B44-9DFB-12D6F6D924DD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Source code: git@github.com:vasupsu/IA3_Paper16_ArtifactEvaluation.git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98FE6-F4B4-3247-A13D-0D2ED377FED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769852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9334E-8C6E-2B4D-BCFE-150799BE33DE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Source code: git@github.com:vasupsu/IA3_Paper16_ArtifactEvaluation.git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98FE6-F4B4-3247-A13D-0D2ED377FED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89709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28424-96A5-5E42-B463-13DEDC230564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Source code: git@github.com:vasupsu/IA3_Paper16_ArtifactEvaluation.git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98FE6-F4B4-3247-A13D-0D2ED377FED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79127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74DA1-51E3-7C4D-BA42-A82A394D0ADF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Source code: git@github.com:vasupsu/IA3_Paper16_ArtifactEvaluation.git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98FE6-F4B4-3247-A13D-0D2ED377FED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1979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58D29-00A2-174A-80F5-3ABDD3746DBA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Source code: git@github.com:vasupsu/IA3_Paper16_ArtifactEvaluation.git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C98FE6-F4B4-3247-A13D-0D2ED377FED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6921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e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145/3149704.3149768" TargetMode="Externa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063626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Optimizing Word2Vec Performance on Multicore Systems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814542"/>
            <a:ext cx="8001000" cy="1181725"/>
          </a:xfrm>
        </p:spPr>
        <p:txBody>
          <a:bodyPr/>
          <a:lstStyle/>
          <a:p>
            <a:r>
              <a:rPr lang="en-US" sz="2000" b="1" dirty="0" smtClean="0">
                <a:solidFill>
                  <a:schemeClr val="tx1"/>
                </a:solidFill>
              </a:rPr>
              <a:t>Vasudevan Rengasamy</a:t>
            </a:r>
            <a:r>
              <a:rPr lang="en-US" sz="2000" dirty="0" smtClean="0">
                <a:solidFill>
                  <a:schemeClr val="tx1"/>
                </a:solidFill>
              </a:rPr>
              <a:t>, Tao-Yang Fu, Wang-</a:t>
            </a:r>
            <a:r>
              <a:rPr lang="en-US" sz="2000" dirty="0" err="1" smtClean="0">
                <a:solidFill>
                  <a:schemeClr val="tx1"/>
                </a:solidFill>
              </a:rPr>
              <a:t>Chien</a:t>
            </a:r>
            <a:r>
              <a:rPr lang="en-US" sz="2000" dirty="0" smtClean="0">
                <a:solidFill>
                  <a:schemeClr val="tx1"/>
                </a:solidFill>
              </a:rPr>
              <a:t> Lee, </a:t>
            </a:r>
            <a:r>
              <a:rPr lang="en-US" sz="2000" dirty="0" err="1" smtClean="0">
                <a:solidFill>
                  <a:schemeClr val="tx1"/>
                </a:solidFill>
              </a:rPr>
              <a:t>Kamesh</a:t>
            </a:r>
            <a:r>
              <a:rPr lang="en-US" sz="2000" dirty="0" smtClean="0">
                <a:solidFill>
                  <a:schemeClr val="tx1"/>
                </a:solidFill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</a:rPr>
              <a:t>Madduri</a:t>
            </a:r>
            <a:endParaRPr lang="en-US" sz="2000" dirty="0" smtClean="0">
              <a:solidFill>
                <a:schemeClr val="tx1"/>
              </a:solidFill>
            </a:endParaRPr>
          </a:p>
          <a:p>
            <a:r>
              <a:rPr lang="en-US" sz="2000" dirty="0" smtClean="0">
                <a:solidFill>
                  <a:schemeClr val="tx1"/>
                </a:solidFill>
              </a:rPr>
              <a:t>The Pennsylvania State University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3904" y="4685673"/>
            <a:ext cx="4476190" cy="1704762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98FE6-F4B4-3247-A13D-0D2ED377FED4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52666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Acknowledgement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8568267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/>
              <a:t>This research is supported in part by the US National Science Foundation grants ACI-1253881, CCF-1439057, IIS-1717084, and SMA-1360205. This work used the Extreme Science and Engineering Discovery Environment (XSEDE</a:t>
            </a:r>
            <a:r>
              <a:rPr lang="en-US" sz="2200" dirty="0" smtClean="0"/>
              <a:t>), </a:t>
            </a:r>
            <a:r>
              <a:rPr lang="en-US" sz="2200" dirty="0"/>
              <a:t>which is supported by National Science Foundation grant number ACI-1548562.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98FE6-F4B4-3247-A13D-0D2ED377FED4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80517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 smtClean="0"/>
              <a:t>Introduction</a:t>
            </a:r>
          </a:p>
          <a:p>
            <a:pPr lvl="1"/>
            <a:r>
              <a:rPr lang="en-US" sz="2400" dirty="0" smtClean="0"/>
              <a:t>Motivation for Word </a:t>
            </a:r>
            <a:r>
              <a:rPr lang="en-US" sz="2400" dirty="0" err="1" smtClean="0"/>
              <a:t>Embeddings</a:t>
            </a:r>
            <a:endParaRPr lang="en-US" sz="2400" dirty="0" smtClean="0"/>
          </a:p>
          <a:p>
            <a:pPr lvl="1"/>
            <a:r>
              <a:rPr lang="en-US" sz="2400" dirty="0" smtClean="0"/>
              <a:t>Prior work on optimizing </a:t>
            </a:r>
            <a:r>
              <a:rPr lang="en-US" sz="2400" b="1" dirty="0" smtClean="0"/>
              <a:t>Word2Vec</a:t>
            </a:r>
          </a:p>
          <a:p>
            <a:pPr lvl="1"/>
            <a:endParaRPr lang="en-US" sz="2400" dirty="0" smtClean="0"/>
          </a:p>
          <a:p>
            <a:r>
              <a:rPr lang="en-US" sz="2400" dirty="0" smtClean="0"/>
              <a:t>Our Context Combining optimization</a:t>
            </a:r>
          </a:p>
          <a:p>
            <a:endParaRPr lang="en-US" sz="2400" dirty="0" smtClean="0"/>
          </a:p>
          <a:p>
            <a:r>
              <a:rPr lang="en-US" sz="2400" dirty="0" smtClean="0"/>
              <a:t>Experiments and Results</a:t>
            </a:r>
          </a:p>
          <a:p>
            <a:pPr lvl="1"/>
            <a:r>
              <a:rPr lang="en-US" sz="2400" dirty="0" smtClean="0"/>
              <a:t>Parallel performance</a:t>
            </a:r>
          </a:p>
          <a:p>
            <a:pPr lvl="1"/>
            <a:r>
              <a:rPr lang="en-US" sz="2400" dirty="0" smtClean="0"/>
              <a:t>Evaluating Accuracy</a:t>
            </a:r>
          </a:p>
          <a:p>
            <a:pPr lvl="1"/>
            <a:endParaRPr lang="en-US" sz="2400" dirty="0" smtClean="0"/>
          </a:p>
          <a:p>
            <a:r>
              <a:rPr lang="en-US" sz="2400" dirty="0" smtClean="0"/>
              <a:t>Conclusion and Future work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98FE6-F4B4-3247-A13D-0D2ED377FED4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95933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Word embedding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504267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/>
              <a:t>Learn low dimensional vector representation for words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 smtClean="0"/>
              <a:t>Vectors of similar words are closer in the vector space</a:t>
            </a:r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Applications: </a:t>
            </a:r>
          </a:p>
          <a:p>
            <a:r>
              <a:rPr lang="en-US" sz="2400" dirty="0" smtClean="0"/>
              <a:t>Document classification</a:t>
            </a:r>
          </a:p>
          <a:p>
            <a:r>
              <a:rPr lang="en-US" sz="2400" dirty="0" smtClean="0"/>
              <a:t>Machine translation</a:t>
            </a:r>
          </a:p>
          <a:p>
            <a:r>
              <a:rPr lang="en-US" sz="2400" dirty="0" smtClean="0"/>
              <a:t>Named entity recognition</a:t>
            </a:r>
            <a:endParaRPr lang="en-US" sz="2400" dirty="0"/>
          </a:p>
        </p:txBody>
      </p:sp>
      <p:sp>
        <p:nvSpPr>
          <p:cNvPr id="10" name="Oval 9"/>
          <p:cNvSpPr/>
          <p:nvPr/>
        </p:nvSpPr>
        <p:spPr>
          <a:xfrm>
            <a:off x="7569186" y="4453430"/>
            <a:ext cx="101600" cy="8466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6705599" y="1799735"/>
            <a:ext cx="745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sunny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5249337" y="2272771"/>
            <a:ext cx="745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bright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7416791" y="4546136"/>
            <a:ext cx="914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large</a:t>
            </a:r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98FE6-F4B4-3247-A13D-0D2ED377FED4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6824137" y="2218277"/>
            <a:ext cx="101600" cy="8466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6062155" y="2438409"/>
            <a:ext cx="101600" cy="8466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/>
          <p:cNvCxnSpPr>
            <a:stCxn id="11" idx="7"/>
            <a:endCxn id="9" idx="2"/>
          </p:cNvCxnSpPr>
          <p:nvPr/>
        </p:nvCxnSpPr>
        <p:spPr>
          <a:xfrm flipV="1">
            <a:off x="6148876" y="2260610"/>
            <a:ext cx="675261" cy="1901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>
            <a:stCxn id="11" idx="5"/>
          </p:cNvCxnSpPr>
          <p:nvPr/>
        </p:nvCxnSpPr>
        <p:spPr>
          <a:xfrm>
            <a:off x="6148876" y="2510676"/>
            <a:ext cx="1420310" cy="203546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stCxn id="9" idx="7"/>
          </p:cNvCxnSpPr>
          <p:nvPr/>
        </p:nvCxnSpPr>
        <p:spPr>
          <a:xfrm>
            <a:off x="6910858" y="2230676"/>
            <a:ext cx="759928" cy="2265087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028958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665" y="274638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Word2Vec: A Word Embedding Technique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20384"/>
            <a:ext cx="7806267" cy="14067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/>
              <a:t>Skip-gram model</a:t>
            </a:r>
            <a:r>
              <a:rPr lang="en-US" sz="2400" dirty="0" smtClean="0"/>
              <a:t>:</a:t>
            </a:r>
            <a:endParaRPr lang="en-US" sz="2400" dirty="0"/>
          </a:p>
          <a:p>
            <a:pPr marL="0" indent="0">
              <a:buNone/>
            </a:pPr>
            <a:r>
              <a:rPr lang="en-US" sz="2400" dirty="0" smtClean="0"/>
              <a:t>Learn word representations by </a:t>
            </a:r>
            <a:r>
              <a:rPr lang="en-US" sz="2400" dirty="0" smtClean="0">
                <a:solidFill>
                  <a:srgbClr val="3366FF"/>
                </a:solidFill>
              </a:rPr>
              <a:t>predicting words that occur in the same context</a:t>
            </a:r>
            <a:r>
              <a:rPr lang="en-US" sz="2400" dirty="0" smtClean="0"/>
              <a:t> as the target word</a:t>
            </a:r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21" name="Slide Number Placeholder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98FE6-F4B4-3247-A13D-0D2ED377FED4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771" y="1417638"/>
            <a:ext cx="7772400" cy="2044700"/>
          </a:xfrm>
          <a:prstGeom prst="rect">
            <a:avLst/>
          </a:prstGeom>
        </p:spPr>
      </p:pic>
      <p:pic>
        <p:nvPicPr>
          <p:cNvPr id="22" name="Content Placeholder 5" descr="sentence2.pd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-1927" b="346"/>
          <a:stretch/>
        </p:blipFill>
        <p:spPr>
          <a:xfrm>
            <a:off x="1248837" y="3805191"/>
            <a:ext cx="6350000" cy="1332716"/>
          </a:xfrm>
          <a:prstGeom prst="rect">
            <a:avLst/>
          </a:prstGeom>
        </p:spPr>
      </p:pic>
      <p:cxnSp>
        <p:nvCxnSpPr>
          <p:cNvPr id="23" name="Straight Arrow Connector 22"/>
          <p:cNvCxnSpPr/>
          <p:nvPr/>
        </p:nvCxnSpPr>
        <p:spPr>
          <a:xfrm flipH="1" flipV="1">
            <a:off x="3839641" y="4633099"/>
            <a:ext cx="948266" cy="287866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838711" y="4751635"/>
            <a:ext cx="1621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Target word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281769" y="4734702"/>
            <a:ext cx="1794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Input context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345419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4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Two applications of Word2Vec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3087675" y="1427576"/>
            <a:ext cx="4040188" cy="639762"/>
          </a:xfrm>
        </p:spPr>
        <p:txBody>
          <a:bodyPr/>
          <a:lstStyle/>
          <a:p>
            <a:r>
              <a:rPr lang="en-US" dirty="0" smtClean="0"/>
              <a:t>Word Similarity</a:t>
            </a:r>
            <a:endParaRPr lang="en-US" dirty="0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xmlns="" val="1129090862"/>
              </p:ext>
            </p:extLst>
          </p:nvPr>
        </p:nvGraphicFramePr>
        <p:xfrm>
          <a:off x="2749015" y="2287467"/>
          <a:ext cx="2980267" cy="195625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3080"/>
                <a:gridCol w="1013080"/>
                <a:gridCol w="954107"/>
              </a:tblGrid>
              <a:tr h="520624">
                <a:tc>
                  <a:txBody>
                    <a:bodyPr/>
                    <a:lstStyle/>
                    <a:p>
                      <a:r>
                        <a:rPr lang="en-US" sz="1500" b="1" dirty="0" smtClean="0"/>
                        <a:t>Word</a:t>
                      </a:r>
                      <a:endParaRPr lang="en-US" sz="15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 smtClean="0"/>
                        <a:t>Word</a:t>
                      </a:r>
                      <a:endParaRPr lang="en-US" sz="15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 smtClean="0"/>
                        <a:t>Similarity score</a:t>
                      </a:r>
                      <a:endParaRPr lang="en-US" sz="15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1903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500" u="none" strike="noStrike" dirty="0">
                          <a:solidFill>
                            <a:schemeClr val="tx1"/>
                          </a:solidFill>
                          <a:effectLst/>
                        </a:rPr>
                        <a:t>football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cs typeface="Calibri (Body)"/>
                      </a:endParaRPr>
                    </a:p>
                  </a:txBody>
                  <a:tcPr marL="12700" marR="12700" marT="25400" marB="25400" anchor="b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500" u="none" strike="noStrike">
                          <a:solidFill>
                            <a:schemeClr val="tx1"/>
                          </a:solidFill>
                          <a:effectLst/>
                        </a:rPr>
                        <a:t>soccer</a:t>
                      </a:r>
                      <a:endParaRPr lang="en-US" sz="15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Calibri (Body)"/>
                      </a:endParaRPr>
                    </a:p>
                  </a:txBody>
                  <a:tcPr marL="12700" marR="12700" marT="25400" marB="25400" anchor="b"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500" u="none" strike="noStrike" dirty="0">
                          <a:solidFill>
                            <a:srgbClr val="008000"/>
                          </a:solidFill>
                          <a:effectLst/>
                        </a:rPr>
                        <a:t>0.83</a:t>
                      </a:r>
                      <a:endParaRPr lang="en-US" sz="1500" b="1" i="0" u="none" strike="noStrike" dirty="0">
                        <a:solidFill>
                          <a:srgbClr val="008000"/>
                        </a:solidFill>
                        <a:effectLst/>
                        <a:latin typeface="+mn-lt"/>
                        <a:cs typeface="Calibri (Body)"/>
                      </a:endParaRPr>
                    </a:p>
                  </a:txBody>
                  <a:tcPr marL="12700" marR="12700" marT="25400" marB="25400" anchor="b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51903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500" u="none" strike="noStrike" dirty="0">
                          <a:solidFill>
                            <a:schemeClr val="tx1"/>
                          </a:solidFill>
                          <a:effectLst/>
                        </a:rPr>
                        <a:t>television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cs typeface="Calibri (Body)"/>
                      </a:endParaRPr>
                    </a:p>
                  </a:txBody>
                  <a:tcPr marL="12700" marR="12700" marT="25400" marB="25400" anchor="b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500" u="none" strike="noStrike" dirty="0">
                          <a:solidFill>
                            <a:schemeClr val="tx1"/>
                          </a:solidFill>
                          <a:effectLst/>
                        </a:rPr>
                        <a:t>radio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cs typeface="Calibri (Body)"/>
                      </a:endParaRPr>
                    </a:p>
                  </a:txBody>
                  <a:tcPr marL="12700" marR="12700" marT="25400" marB="2540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500" u="none" strike="noStrike" dirty="0">
                          <a:solidFill>
                            <a:srgbClr val="008000"/>
                          </a:solidFill>
                          <a:effectLst/>
                        </a:rPr>
                        <a:t>0.76</a:t>
                      </a:r>
                      <a:endParaRPr lang="en-US" sz="1500" b="1" i="0" u="none" strike="noStrike" dirty="0">
                        <a:solidFill>
                          <a:srgbClr val="008000"/>
                        </a:solidFill>
                        <a:effectLst/>
                        <a:latin typeface="+mn-lt"/>
                        <a:cs typeface="Calibri (Body)"/>
                      </a:endParaRPr>
                    </a:p>
                  </a:txBody>
                  <a:tcPr marL="12700" marR="12700" marT="25400" marB="25400" anchor="b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51903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500" u="none" strike="noStrike" dirty="0">
                          <a:solidFill>
                            <a:schemeClr val="tx1"/>
                          </a:solidFill>
                          <a:effectLst/>
                        </a:rPr>
                        <a:t>precedent</a:t>
                      </a:r>
                      <a:endParaRPr lang="en-US" sz="15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cs typeface="Calibri (Body)"/>
                      </a:endParaRPr>
                    </a:p>
                  </a:txBody>
                  <a:tcPr marL="12700" marR="12700" marT="25400" marB="25400" anchor="b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500" u="none" strike="noStrike">
                          <a:solidFill>
                            <a:schemeClr val="tx1"/>
                          </a:solidFill>
                          <a:effectLst/>
                        </a:rPr>
                        <a:t>group</a:t>
                      </a:r>
                      <a:endParaRPr lang="en-US" sz="15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Calibri (Body)"/>
                      </a:endParaRPr>
                    </a:p>
                  </a:txBody>
                  <a:tcPr marL="12700" marR="12700" marT="25400" marB="2540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5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-0.05</a:t>
                      </a:r>
                      <a:endParaRPr lang="en-US" sz="1500" b="0" i="0" u="none" strike="noStrike" dirty="0">
                        <a:solidFill>
                          <a:srgbClr val="FF0000"/>
                        </a:solidFill>
                        <a:effectLst/>
                        <a:latin typeface="+mn-lt"/>
                        <a:cs typeface="Calibri (Body)"/>
                      </a:endParaRPr>
                    </a:p>
                  </a:txBody>
                  <a:tcPr marL="12700" marR="12700" marT="25400" marB="25400" anchor="b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51903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500" u="none" strike="noStrike" dirty="0">
                          <a:solidFill>
                            <a:schemeClr val="tx1"/>
                          </a:solidFill>
                          <a:effectLst/>
                        </a:rPr>
                        <a:t>listing</a:t>
                      </a:r>
                      <a:endParaRPr lang="en-US" sz="15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cs typeface="Calibri (Body)"/>
                      </a:endParaRPr>
                    </a:p>
                  </a:txBody>
                  <a:tcPr marL="12700" marR="12700" marT="25400" marB="25400" anchor="b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500" u="none" strike="noStrike" dirty="0">
                          <a:solidFill>
                            <a:schemeClr val="tx1"/>
                          </a:solidFill>
                          <a:effectLst/>
                        </a:rPr>
                        <a:t>proximity</a:t>
                      </a:r>
                      <a:endParaRPr lang="en-US" sz="15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cs typeface="Calibri (Body)"/>
                      </a:endParaRPr>
                    </a:p>
                  </a:txBody>
                  <a:tcPr marL="12700" marR="12700" marT="25400" marB="25400" anchor="b"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5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-0.06</a:t>
                      </a:r>
                      <a:endParaRPr lang="en-US" sz="1500" b="0" i="0" u="none" strike="noStrike" dirty="0">
                        <a:solidFill>
                          <a:srgbClr val="FF0000"/>
                        </a:solidFill>
                        <a:effectLst/>
                        <a:latin typeface="+mn-lt"/>
                        <a:cs typeface="Calibri (Body)"/>
                      </a:endParaRPr>
                    </a:p>
                  </a:txBody>
                  <a:tcPr marL="12700" marR="12700" marT="25400" marB="25400" anchor="b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>
          <a:xfrm>
            <a:off x="3086088" y="4362250"/>
            <a:ext cx="4041775" cy="639762"/>
          </a:xfrm>
        </p:spPr>
        <p:txBody>
          <a:bodyPr/>
          <a:lstStyle/>
          <a:p>
            <a:r>
              <a:rPr lang="en-US" dirty="0" smtClean="0"/>
              <a:t>Word Analogy</a:t>
            </a:r>
            <a:endParaRPr lang="en-US" dirty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xmlns="" val="151076490"/>
              </p:ext>
            </p:extLst>
          </p:nvPr>
        </p:nvGraphicFramePr>
        <p:xfrm>
          <a:off x="2459567" y="5171342"/>
          <a:ext cx="3669242" cy="1290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3108"/>
                <a:gridCol w="123613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500" b="1" dirty="0" smtClean="0"/>
                        <a:t>Question</a:t>
                      </a:r>
                      <a:endParaRPr lang="en-US" sz="1500" b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 smtClean="0"/>
                        <a:t>Predicted Word</a:t>
                      </a:r>
                      <a:endParaRPr lang="en-US" sz="1500" b="1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500" kern="1200" dirty="0" err="1" smtClean="0"/>
                        <a:t>greece:athens</a:t>
                      </a:r>
                      <a:r>
                        <a:rPr lang="en-US" sz="1500" kern="1200" dirty="0" smtClean="0"/>
                        <a:t> </a:t>
                      </a:r>
                      <a:r>
                        <a:rPr lang="en-US" sz="1500" kern="1200" dirty="0" err="1" smtClean="0"/>
                        <a:t>france</a:t>
                      </a:r>
                      <a:r>
                        <a:rPr lang="en-US" sz="1500" kern="1200" dirty="0" smtClean="0"/>
                        <a:t>:?</a:t>
                      </a:r>
                      <a:endParaRPr lang="en-US" sz="15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kern="1200" dirty="0" err="1" smtClean="0">
                          <a:solidFill>
                            <a:srgbClr val="008000"/>
                          </a:solidFill>
                        </a:rPr>
                        <a:t>paris</a:t>
                      </a:r>
                      <a:endParaRPr lang="en-US" sz="1500" dirty="0">
                        <a:solidFill>
                          <a:srgbClr val="008000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500" kern="1200" dirty="0" err="1" smtClean="0"/>
                        <a:t>greece:athens</a:t>
                      </a:r>
                      <a:r>
                        <a:rPr lang="en-US" sz="1500" kern="1200" dirty="0" smtClean="0"/>
                        <a:t> china:?</a:t>
                      </a:r>
                      <a:endParaRPr lang="en-US" sz="15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kern="1200" dirty="0" err="1" smtClean="0">
                          <a:solidFill>
                            <a:srgbClr val="008000"/>
                          </a:solidFill>
                        </a:rPr>
                        <a:t>beijing</a:t>
                      </a:r>
                      <a:endParaRPr lang="en-US" sz="1500" dirty="0">
                        <a:solidFill>
                          <a:srgbClr val="008000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98FE6-F4B4-3247-A13D-0D2ED377FED4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3438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Aim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98FE6-F4B4-3247-A13D-0D2ED377FED4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Improve efficiency of Word2Vec </a:t>
            </a:r>
            <a:r>
              <a:rPr lang="en-US" sz="2400" dirty="0" smtClean="0">
                <a:solidFill>
                  <a:srgbClr val="000000"/>
                </a:solidFill>
              </a:rPr>
              <a:t>training on multi-core systems </a:t>
            </a:r>
            <a:r>
              <a:rPr lang="en-US" sz="2400" dirty="0">
                <a:solidFill>
                  <a:srgbClr val="000000"/>
                </a:solidFill>
              </a:rPr>
              <a:t>by</a:t>
            </a:r>
          </a:p>
          <a:p>
            <a:pPr marL="285750" indent="-285750"/>
            <a:r>
              <a:rPr lang="en-US" sz="2400" dirty="0">
                <a:solidFill>
                  <a:srgbClr val="000000"/>
                </a:solidFill>
              </a:rPr>
              <a:t>Improving floating point throughput</a:t>
            </a:r>
          </a:p>
          <a:p>
            <a:pPr marL="285750" indent="-285750"/>
            <a:r>
              <a:rPr lang="en-US" sz="2400" dirty="0">
                <a:solidFill>
                  <a:srgbClr val="000000"/>
                </a:solidFill>
              </a:rPr>
              <a:t>Reducing </a:t>
            </a:r>
            <a:r>
              <a:rPr lang="en-US" sz="2400" dirty="0" smtClean="0">
                <a:solidFill>
                  <a:srgbClr val="000000"/>
                </a:solidFill>
              </a:rPr>
              <a:t>overheads</a:t>
            </a:r>
            <a:endParaRPr lang="en-US" sz="2400" dirty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US" sz="2400" dirty="0" smtClean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sz="2400" dirty="0" smtClean="0">
                <a:solidFill>
                  <a:srgbClr val="000000"/>
                </a:solidFill>
              </a:rPr>
              <a:t>Avoid any accuracy loss </a:t>
            </a:r>
            <a:r>
              <a:rPr lang="en-US" sz="2400" dirty="0">
                <a:solidFill>
                  <a:srgbClr val="000000"/>
                </a:solidFill>
              </a:rPr>
              <a:t>due </a:t>
            </a:r>
            <a:r>
              <a:rPr lang="en-US" sz="2400" dirty="0" smtClean="0">
                <a:solidFill>
                  <a:srgbClr val="000000"/>
                </a:solidFill>
              </a:rPr>
              <a:t>to performance </a:t>
            </a:r>
            <a:r>
              <a:rPr lang="en-US" sz="2400" dirty="0">
                <a:solidFill>
                  <a:srgbClr val="000000"/>
                </a:solidFill>
              </a:rPr>
              <a:t>optimization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2342217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Training SGNS model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98FE6-F4B4-3247-A13D-0D2ED377FED4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5" name="Content Placeholder 5" descr="sentence2.pd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-1927" b="346"/>
          <a:stretch/>
        </p:blipFill>
        <p:spPr>
          <a:xfrm>
            <a:off x="1248837" y="1807097"/>
            <a:ext cx="6350000" cy="1332716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 flipH="1" flipV="1">
            <a:off x="3839641" y="2635005"/>
            <a:ext cx="948266" cy="287866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838711" y="2753541"/>
            <a:ext cx="1621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Target word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287083" y="2932667"/>
            <a:ext cx="24678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Generate Samples</a:t>
            </a:r>
            <a:endParaRPr lang="en-US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1816797" y="3303603"/>
            <a:ext cx="4009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day, bright, </a:t>
            </a:r>
            <a:r>
              <a:rPr lang="en-US" dirty="0" smtClean="0">
                <a:solidFill>
                  <a:srgbClr val="008000"/>
                </a:solidFill>
              </a:rPr>
              <a:t>+</a:t>
            </a:r>
            <a:r>
              <a:rPr lang="en-US" dirty="0" smtClean="0"/>
              <a:t>		desert, bright, </a:t>
            </a:r>
            <a:r>
              <a:rPr lang="en-US" dirty="0" smtClean="0">
                <a:solidFill>
                  <a:srgbClr val="FF0000"/>
                </a:solidFill>
              </a:rPr>
              <a:t>-</a:t>
            </a:r>
          </a:p>
          <a:p>
            <a:r>
              <a:rPr lang="en-US" dirty="0" smtClean="0"/>
              <a:t>day, sunny, </a:t>
            </a:r>
            <a:r>
              <a:rPr lang="en-US" dirty="0" smtClean="0">
                <a:solidFill>
                  <a:srgbClr val="008000"/>
                </a:solidFill>
              </a:rPr>
              <a:t>+</a:t>
            </a:r>
            <a:r>
              <a:rPr lang="en-US" dirty="0" smtClean="0"/>
              <a:t>		largest, sunny, </a:t>
            </a:r>
            <a:r>
              <a:rPr lang="en-US" dirty="0" smtClean="0">
                <a:solidFill>
                  <a:srgbClr val="FF0000"/>
                </a:solidFill>
              </a:rPr>
              <a:t>-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3467" y="1716500"/>
            <a:ext cx="4183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1.</a:t>
            </a:r>
            <a:endParaRPr lang="en-US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643466" y="2915734"/>
            <a:ext cx="4183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2.</a:t>
            </a:r>
            <a:endParaRPr lang="en-US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1287083" y="4028536"/>
            <a:ext cx="78045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Update model parameters using Stochastic Gradient Descent </a:t>
            </a:r>
          </a:p>
          <a:p>
            <a:r>
              <a:rPr lang="en-US" sz="2400" dirty="0" smtClean="0"/>
              <a:t>(SGD)</a:t>
            </a:r>
            <a:endParaRPr lang="en-US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643466" y="4011603"/>
            <a:ext cx="4183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3.</a:t>
            </a:r>
            <a:endParaRPr lang="en-US" sz="2400" dirty="0"/>
          </a:p>
        </p:txBody>
      </p:sp>
      <p:sp>
        <p:nvSpPr>
          <p:cNvPr id="16" name="TextBox 15"/>
          <p:cNvSpPr txBox="1"/>
          <p:nvPr/>
        </p:nvSpPr>
        <p:spPr>
          <a:xfrm>
            <a:off x="1248837" y="1719701"/>
            <a:ext cx="4307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Select target word, input context</a:t>
            </a:r>
            <a:endParaRPr lang="en-US" sz="2400" dirty="0"/>
          </a:p>
        </p:txBody>
      </p:sp>
      <p:sp>
        <p:nvSpPr>
          <p:cNvPr id="17" name="Rectangle 16"/>
          <p:cNvSpPr/>
          <p:nvPr/>
        </p:nvSpPr>
        <p:spPr>
          <a:xfrm>
            <a:off x="3234267" y="5096927"/>
            <a:ext cx="1553640" cy="93133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Word2Vec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9" name="Straight Arrow Connector 18"/>
          <p:cNvCxnSpPr>
            <a:stCxn id="17" idx="3"/>
          </p:cNvCxnSpPr>
          <p:nvPr/>
        </p:nvCxnSpPr>
        <p:spPr>
          <a:xfrm flipV="1">
            <a:off x="4787907" y="5096927"/>
            <a:ext cx="920519" cy="465667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7" idx="3"/>
          </p:cNvCxnSpPr>
          <p:nvPr/>
        </p:nvCxnSpPr>
        <p:spPr>
          <a:xfrm flipV="1">
            <a:off x="4787907" y="5367860"/>
            <a:ext cx="1072919" cy="194734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7" idx="3"/>
          </p:cNvCxnSpPr>
          <p:nvPr/>
        </p:nvCxnSpPr>
        <p:spPr>
          <a:xfrm>
            <a:off x="4787907" y="5562594"/>
            <a:ext cx="1206493" cy="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7" idx="3"/>
          </p:cNvCxnSpPr>
          <p:nvPr/>
        </p:nvCxnSpPr>
        <p:spPr>
          <a:xfrm>
            <a:off x="4787907" y="5562594"/>
            <a:ext cx="1072919" cy="211666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17" idx="3"/>
          </p:cNvCxnSpPr>
          <p:nvPr/>
        </p:nvCxnSpPr>
        <p:spPr>
          <a:xfrm>
            <a:off x="4787907" y="5562594"/>
            <a:ext cx="920519" cy="465666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520267" y="4656664"/>
            <a:ext cx="10058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P(bright)</a:t>
            </a:r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6175606" y="5367860"/>
            <a:ext cx="1002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P(sunny)</a:t>
            </a:r>
            <a:endParaRPr 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5826757" y="5957325"/>
            <a:ext cx="1042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P(desert)</a:t>
            </a:r>
            <a:endParaRPr lang="en-US" dirty="0"/>
          </a:p>
        </p:txBody>
      </p:sp>
      <p:cxnSp>
        <p:nvCxnSpPr>
          <p:cNvPr id="47" name="Straight Arrow Connector 46"/>
          <p:cNvCxnSpPr>
            <a:endCxn id="17" idx="1"/>
          </p:cNvCxnSpPr>
          <p:nvPr/>
        </p:nvCxnSpPr>
        <p:spPr>
          <a:xfrm>
            <a:off x="2167467" y="5562594"/>
            <a:ext cx="1066800" cy="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2150533" y="5198527"/>
            <a:ext cx="520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day</a:t>
            </a:r>
            <a:endParaRPr lang="en-US" dirty="0"/>
          </a:p>
        </p:txBody>
      </p:sp>
      <p:cxnSp>
        <p:nvCxnSpPr>
          <p:cNvPr id="52" name="Elbow Connector 51"/>
          <p:cNvCxnSpPr>
            <a:endCxn id="17" idx="2"/>
          </p:cNvCxnSpPr>
          <p:nvPr/>
        </p:nvCxnSpPr>
        <p:spPr>
          <a:xfrm rot="10800000" flipV="1">
            <a:off x="4011087" y="5562594"/>
            <a:ext cx="3587750" cy="465666"/>
          </a:xfrm>
          <a:prstGeom prst="bentConnector4">
            <a:avLst>
              <a:gd name="adj1" fmla="val -19351"/>
              <a:gd name="adj2" fmla="val 214546"/>
            </a:avLst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2368839" y="6154115"/>
            <a:ext cx="1642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Update weights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889039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1" grpId="0"/>
      <p:bldP spid="14" grpId="0"/>
      <p:bldP spid="15" grpId="0"/>
      <p:bldP spid="17" grpId="0" animBg="1"/>
      <p:bldP spid="44" grpId="0"/>
      <p:bldP spid="45" grpId="0"/>
      <p:bldP spid="46" grpId="0"/>
      <p:bldP spid="50" grpId="0"/>
      <p:bldP spid="5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187171"/>
            <a:ext cx="8229600" cy="1143000"/>
          </a:xfrm>
        </p:spPr>
        <p:txBody>
          <a:bodyPr/>
          <a:lstStyle/>
          <a:p>
            <a:r>
              <a:rPr lang="en-US" dirty="0" smtClean="0"/>
              <a:t>Prior Work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98FE6-F4B4-3247-A13D-0D2ED377FED4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62768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pWord2Vec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295406"/>
            <a:ext cx="4030134" cy="486833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 smtClean="0"/>
              <a:t>Idea</a:t>
            </a:r>
            <a:r>
              <a:rPr lang="en-US" sz="2400" dirty="0" smtClean="0"/>
              <a:t>: Share negative samples among same context words [2]</a:t>
            </a:r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Advantages:</a:t>
            </a:r>
            <a:endParaRPr lang="en-US" sz="2400" dirty="0"/>
          </a:p>
          <a:p>
            <a:r>
              <a:rPr lang="en-US" sz="2400" dirty="0" smtClean="0"/>
              <a:t>Matrix multiplications which are compute bound</a:t>
            </a:r>
          </a:p>
          <a:p>
            <a:pPr marL="0" indent="0">
              <a:buNone/>
            </a:pPr>
            <a:r>
              <a:rPr lang="en-US" sz="2400" dirty="0" smtClean="0"/>
              <a:t>Limitations:</a:t>
            </a:r>
          </a:p>
          <a:p>
            <a:r>
              <a:rPr lang="en-US" sz="2400" dirty="0" smtClean="0"/>
              <a:t>Small matrix </a:t>
            </a:r>
            <a:r>
              <a:rPr lang="en-US" sz="2400" dirty="0" smtClean="0">
                <a:sym typeface="Wingdings"/>
              </a:rPr>
              <a:t></a:t>
            </a:r>
            <a:r>
              <a:rPr lang="en-US" sz="2400" dirty="0" smtClean="0"/>
              <a:t> Less floating point throughput</a:t>
            </a:r>
          </a:p>
          <a:p>
            <a:r>
              <a:rPr lang="en-US" sz="2400" dirty="0" smtClean="0"/>
              <a:t>Overhead to create dense matrices</a:t>
            </a:r>
            <a:endParaRPr lang="en-US" sz="2400" dirty="0"/>
          </a:p>
        </p:txBody>
      </p:sp>
      <p:pic>
        <p:nvPicPr>
          <p:cNvPr id="7" name="Content Placeholder 6" descr="pW2v_ex.pdf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-46331" b="-46331"/>
          <a:stretch>
            <a:fillRect/>
          </a:stretch>
        </p:blipFill>
        <p:spPr>
          <a:xfrm>
            <a:off x="4648200" y="2093913"/>
            <a:ext cx="4038600" cy="4032250"/>
          </a:xfrm>
        </p:spPr>
      </p:pic>
      <p:pic>
        <p:nvPicPr>
          <p:cNvPr id="6" name="Content Placeholder 5" descr="sentence2.pd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-1927" b="346"/>
          <a:stretch/>
        </p:blipFill>
        <p:spPr>
          <a:xfrm>
            <a:off x="4648200" y="2093913"/>
            <a:ext cx="4487333" cy="941786"/>
          </a:xfrm>
          <a:prstGeom prst="rect">
            <a:avLst/>
          </a:prstGeom>
        </p:spPr>
      </p:pic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98FE6-F4B4-3247-A13D-0D2ED377FED4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656931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119438"/>
            <a:ext cx="8229600" cy="1143000"/>
          </a:xfrm>
        </p:spPr>
        <p:txBody>
          <a:bodyPr/>
          <a:lstStyle/>
          <a:p>
            <a:r>
              <a:rPr lang="en-US" dirty="0" smtClean="0"/>
              <a:t>Context Combining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98FE6-F4B4-3247-A13D-0D2ED377FED4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61471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Context Combining: Overview</a:t>
            </a:r>
            <a:endParaRPr lang="en-US" dirty="0"/>
          </a:p>
        </p:txBody>
      </p:sp>
      <p:pic>
        <p:nvPicPr>
          <p:cNvPr id="12" name="Content Placeholder 11" descr="nW2v_ex.pdf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-21624" r="-21624"/>
          <a:stretch>
            <a:fillRect/>
          </a:stretch>
        </p:blipFill>
        <p:spPr>
          <a:xfrm>
            <a:off x="1303867" y="2680471"/>
            <a:ext cx="6265332" cy="3445691"/>
          </a:xfrm>
        </p:spPr>
      </p:pic>
      <p:pic>
        <p:nvPicPr>
          <p:cNvPr id="13" name="Picture 12" descr="sentence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095503" y="1715271"/>
            <a:ext cx="4648200" cy="965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031987" y="6231467"/>
            <a:ext cx="41601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C1, C2 – Related windows sharing samples</a:t>
            </a:r>
            <a:endParaRPr lang="en-US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98FE6-F4B4-3247-A13D-0D2ED377FED4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629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 Combining: Steps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98FE6-F4B4-3247-A13D-0D2ED377FED4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170" y="2755948"/>
            <a:ext cx="3780367" cy="42328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7304" y="5244616"/>
            <a:ext cx="1511300" cy="46929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7304" y="5798579"/>
            <a:ext cx="4978400" cy="35185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1536" y="3242726"/>
            <a:ext cx="5160433" cy="682306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47302" y="4928945"/>
            <a:ext cx="5198533" cy="23522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38836" y="3975399"/>
            <a:ext cx="5173133" cy="902747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56476" y="1288936"/>
            <a:ext cx="4986868" cy="1183071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38836" y="2530196"/>
            <a:ext cx="4986868" cy="200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020836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2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3" dur="indefinite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5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6" dur="indefinite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26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7" dur="indefinite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29" dur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0" dur="indefinite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32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3" dur="indefinite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41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42" dur="indefinite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44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45" dur="indefinite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Preprocessing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/>
              <a:t>Create Inverse index for finding target word positions in training data segment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 smtClean="0"/>
              <a:t>Used for finding </a:t>
            </a:r>
            <a:r>
              <a:rPr lang="en-US" sz="2400" i="1" dirty="0" smtClean="0"/>
              <a:t>related</a:t>
            </a:r>
            <a:r>
              <a:rPr lang="en-US" sz="2400" dirty="0" smtClean="0"/>
              <a:t> windows that contain a given word as the target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 smtClean="0"/>
              <a:t>CSR representation used</a:t>
            </a:r>
            <a:endParaRPr lang="en-US" sz="2400" dirty="0"/>
          </a:p>
        </p:txBody>
      </p:sp>
      <p:pic>
        <p:nvPicPr>
          <p:cNvPr id="6" name="Content Placeholder 5" descr="sentence3_crop.pdf"/>
          <p:cNvPicPr>
            <a:picLocks noGrp="1" noChangeAspect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-8904"/>
          <a:stretch/>
        </p:blipFill>
        <p:spPr>
          <a:xfrm>
            <a:off x="4648200" y="1667932"/>
            <a:ext cx="4038600" cy="872067"/>
          </a:xfrm>
        </p:spPr>
      </p:pic>
      <p:sp>
        <p:nvSpPr>
          <p:cNvPr id="7" name="TextBox 6"/>
          <p:cNvSpPr txBox="1"/>
          <p:nvPr/>
        </p:nvSpPr>
        <p:spPr>
          <a:xfrm>
            <a:off x="5554133" y="1600200"/>
            <a:ext cx="2301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Training Data segment</a:t>
            </a:r>
            <a:endParaRPr lang="en-US" dirty="0"/>
          </a:p>
        </p:txBody>
      </p:sp>
      <p:pic>
        <p:nvPicPr>
          <p:cNvPr id="8" name="Picture 7" descr="iindex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639740" y="3615255"/>
            <a:ext cx="4402660" cy="66039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0" y="3195124"/>
            <a:ext cx="1441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Inverse Index</a:t>
            </a:r>
            <a:endParaRPr lang="en-US" dirty="0"/>
          </a:p>
        </p:txBody>
      </p:sp>
      <p:pic>
        <p:nvPicPr>
          <p:cNvPr id="10" name="Picture 9" descr="iindex_csr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461934" y="5095943"/>
            <a:ext cx="4775200" cy="13217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06538" y="4758258"/>
            <a:ext cx="1989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CSR representation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98FE6-F4B4-3247-A13D-0D2ED377FED4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81537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85571"/>
            <a:ext cx="8229600" cy="1143000"/>
          </a:xfrm>
        </p:spPr>
        <p:txBody>
          <a:bodyPr/>
          <a:lstStyle/>
          <a:p>
            <a:r>
              <a:rPr lang="en-US" dirty="0" smtClean="0"/>
              <a:t>Experiments and Results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98FE6-F4B4-3247-A13D-0D2ED377FED4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45046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Experimental Setup</a:t>
            </a:r>
            <a:endParaRPr lang="en-US" dirty="0"/>
          </a:p>
        </p:txBody>
      </p:sp>
      <p:sp>
        <p:nvSpPr>
          <p:cNvPr id="7" name="Text Placeholder 2"/>
          <p:cNvSpPr txBox="1">
            <a:spLocks/>
          </p:cNvSpPr>
          <p:nvPr/>
        </p:nvSpPr>
        <p:spPr>
          <a:xfrm>
            <a:off x="440491" y="1433515"/>
            <a:ext cx="3657600" cy="639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 smtClean="0"/>
              <a:t>System Description</a:t>
            </a:r>
            <a:endParaRPr lang="en-US" sz="2400" b="1" dirty="0"/>
          </a:p>
        </p:txBody>
      </p:sp>
      <p:sp>
        <p:nvSpPr>
          <p:cNvPr id="8" name="Content Placeholder 3"/>
          <p:cNvSpPr>
            <a:spLocks noGrp="1"/>
          </p:cNvSpPr>
          <p:nvPr>
            <p:ph sz="half" idx="4294967295"/>
          </p:nvPr>
        </p:nvSpPr>
        <p:spPr>
          <a:xfrm>
            <a:off x="457200" y="1836215"/>
            <a:ext cx="8049656" cy="224346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dirty="0" smtClean="0"/>
              <a:t>Stampede supercomputer at TACC – 2 x 8</a:t>
            </a:r>
            <a:r>
              <a:rPr lang="en-US" sz="2200" dirty="0"/>
              <a:t>-core Intel Xeon E5 (Sandy Bridge) </a:t>
            </a:r>
            <a:r>
              <a:rPr lang="en-US" sz="2200" dirty="0" smtClean="0"/>
              <a:t>processors and 32GB DDR3 memory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/>
              <a:t>Stampede2 supercomputer at TACC  - 1 68 core Intel Xeon Phi 7250 Knights Landing (KNL) processor with 4 way SMT, 96 GB DDR4, 16 GB MCDRAM</a:t>
            </a:r>
          </a:p>
          <a:p>
            <a:pPr marL="0" indent="0">
              <a:buNone/>
            </a:pPr>
            <a:r>
              <a:rPr lang="en-US" sz="2200" dirty="0" smtClean="0"/>
              <a:t>Note: All our experiments were run on a single compute node.</a:t>
            </a:r>
          </a:p>
        </p:txBody>
      </p:sp>
      <p:sp>
        <p:nvSpPr>
          <p:cNvPr id="10" name="Text Placeholder 2"/>
          <p:cNvSpPr txBox="1">
            <a:spLocks/>
          </p:cNvSpPr>
          <p:nvPr/>
        </p:nvSpPr>
        <p:spPr>
          <a:xfrm>
            <a:off x="457200" y="4142844"/>
            <a:ext cx="3657600" cy="639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 smtClean="0"/>
              <a:t>Datasets</a:t>
            </a:r>
            <a:endParaRPr lang="en-US" sz="2400" b="1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489337892"/>
              </p:ext>
            </p:extLst>
          </p:nvPr>
        </p:nvGraphicFramePr>
        <p:xfrm>
          <a:off x="1066794" y="4699208"/>
          <a:ext cx="6096000" cy="1833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48000"/>
                <a:gridCol w="3048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Training Data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Test</a:t>
                      </a:r>
                      <a:r>
                        <a:rPr lang="en-US" baseline="0" dirty="0" smtClean="0"/>
                        <a:t> datasets</a:t>
                      </a:r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dirty="0" smtClean="0"/>
                        <a:t>text8 – 17M words, Vocabulary Size – 71K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dirty="0" smtClean="0"/>
                        <a:t>1 billion</a:t>
                      </a:r>
                      <a:r>
                        <a:rPr lang="en-US" baseline="0" dirty="0" smtClean="0"/>
                        <a:t> word benchmark (1B) – 805M words, Vocabulary size – 1.1M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dirty="0" smtClean="0"/>
                        <a:t>WordSim353</a:t>
                      </a:r>
                      <a:r>
                        <a:rPr lang="en-US" baseline="0" dirty="0" smtClean="0"/>
                        <a:t> (ws353) for word similarity test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baseline="0" dirty="0" smtClean="0"/>
                        <a:t>Google analogy queries for word analogy tests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98FE6-F4B4-3247-A13D-0D2ED377FED4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44919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Multi-core performance comparison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795860" y="1535113"/>
            <a:ext cx="4040188" cy="639762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Intel Sandy Bridge:  16 threads</a:t>
            </a:r>
            <a:endParaRPr lang="en-US" dirty="0"/>
          </a:p>
        </p:txBody>
      </p:sp>
      <p:pic>
        <p:nvPicPr>
          <p:cNvPr id="8" name="Content Placeholder 7" descr="overallTimeCPU.pdf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-23350" b="-23350"/>
          <a:stretch>
            <a:fillRect/>
          </a:stretch>
        </p:blipFill>
        <p:spPr>
          <a:xfrm>
            <a:off x="457200" y="2174875"/>
            <a:ext cx="3611117" cy="3531658"/>
          </a:xfrm>
        </p:spPr>
      </p:pic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>
          <a:xfrm>
            <a:off x="5017564" y="1535113"/>
            <a:ext cx="4041775" cy="639762"/>
          </a:xfrm>
        </p:spPr>
        <p:txBody>
          <a:bodyPr/>
          <a:lstStyle/>
          <a:p>
            <a:r>
              <a:rPr lang="en-US" dirty="0" smtClean="0"/>
              <a:t>Intel KNL: 272 threads</a:t>
            </a:r>
            <a:endParaRPr lang="en-US" dirty="0"/>
          </a:p>
        </p:txBody>
      </p:sp>
      <p:pic>
        <p:nvPicPr>
          <p:cNvPr id="9" name="Content Placeholder 8" descr="overallTimeKNL.pdf"/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-23321" b="-23321"/>
          <a:stretch>
            <a:fillRect/>
          </a:stretch>
        </p:blipFill>
        <p:spPr>
          <a:xfrm>
            <a:off x="4645025" y="2174875"/>
            <a:ext cx="3612535" cy="3531658"/>
          </a:xfrm>
        </p:spPr>
      </p:pic>
      <p:sp>
        <p:nvSpPr>
          <p:cNvPr id="10" name="TextBox 9"/>
          <p:cNvSpPr txBox="1"/>
          <p:nvPr/>
        </p:nvSpPr>
        <p:spPr>
          <a:xfrm>
            <a:off x="728133" y="5500470"/>
            <a:ext cx="76180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For 1B dataset, </a:t>
            </a:r>
            <a:r>
              <a:rPr lang="en-US" dirty="0" err="1" smtClean="0"/>
              <a:t>pSGNScc</a:t>
            </a:r>
            <a:r>
              <a:rPr lang="en-US" dirty="0" smtClean="0"/>
              <a:t> achieves 1.28x speedup over pWord2Vec in Stampede</a:t>
            </a:r>
          </a:p>
          <a:p>
            <a:r>
              <a:rPr lang="en-US" dirty="0" smtClean="0"/>
              <a:t>and 1.11x speedup in Stampede2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98FE6-F4B4-3247-A13D-0D2ED377FED4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81380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Breakdown of time</a:t>
            </a:r>
            <a:endParaRPr lang="en-US" dirty="0"/>
          </a:p>
        </p:txBody>
      </p:sp>
      <p:pic>
        <p:nvPicPr>
          <p:cNvPr id="9" name="Content Placeholder 8" descr="stageWise.pdf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-10610" r="-10610"/>
          <a:stretch>
            <a:fillRect/>
          </a:stretch>
        </p:blipFill>
        <p:spPr>
          <a:xfrm>
            <a:off x="1371604" y="1600201"/>
            <a:ext cx="5791200" cy="3184937"/>
          </a:xfrm>
        </p:spPr>
      </p:pic>
      <p:sp>
        <p:nvSpPr>
          <p:cNvPr id="10" name="TextBox 9"/>
          <p:cNvSpPr txBox="1"/>
          <p:nvPr/>
        </p:nvSpPr>
        <p:spPr>
          <a:xfrm>
            <a:off x="1642533" y="4961467"/>
            <a:ext cx="67249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 smtClean="0"/>
              <a:t>Index overhead, Create </a:t>
            </a:r>
            <a:r>
              <a:rPr lang="en-US" dirty="0" err="1" smtClean="0"/>
              <a:t>inM</a:t>
            </a:r>
            <a:r>
              <a:rPr lang="en-US" dirty="0" smtClean="0"/>
              <a:t>, Update M</a:t>
            </a:r>
            <a:r>
              <a:rPr lang="en-US" baseline="-25000" dirty="0" smtClean="0"/>
              <a:t>in</a:t>
            </a:r>
            <a:r>
              <a:rPr lang="en-US" dirty="0" smtClean="0"/>
              <a:t> – pWord2Vec is faster</a:t>
            </a:r>
          </a:p>
          <a:p>
            <a:pPr marL="285750" indent="-285750">
              <a:buFont typeface="Arial"/>
              <a:buChar char="•"/>
            </a:pPr>
            <a:r>
              <a:rPr lang="en-US" dirty="0" smtClean="0"/>
              <a:t>Create </a:t>
            </a:r>
            <a:r>
              <a:rPr lang="en-US" dirty="0" err="1" smtClean="0"/>
              <a:t>outM</a:t>
            </a:r>
            <a:r>
              <a:rPr lang="en-US" dirty="0" smtClean="0"/>
              <a:t>, SGD computations, Update </a:t>
            </a:r>
            <a:r>
              <a:rPr lang="en-US" dirty="0" err="1" smtClean="0"/>
              <a:t>M</a:t>
            </a:r>
            <a:r>
              <a:rPr lang="en-US" baseline="-25000" dirty="0" err="1" smtClean="0"/>
              <a:t>out</a:t>
            </a:r>
            <a:r>
              <a:rPr lang="en-US" dirty="0" smtClean="0"/>
              <a:t> – </a:t>
            </a:r>
            <a:r>
              <a:rPr lang="en-US" dirty="0" err="1" smtClean="0"/>
              <a:t>pSGNScc</a:t>
            </a:r>
            <a:r>
              <a:rPr lang="en-US" dirty="0" smtClean="0"/>
              <a:t> is faster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98FE6-F4B4-3247-A13D-0D2ED377FED4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73233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Parallel Scaling</a:t>
            </a:r>
            <a:endParaRPr lang="en-US" dirty="0"/>
          </a:p>
        </p:txBody>
      </p:sp>
      <p:pic>
        <p:nvPicPr>
          <p:cNvPr id="4" name="Content Placeholder 3" descr="MtScaling.pdf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-10610" r="-10610"/>
          <a:stretch>
            <a:fillRect/>
          </a:stretch>
        </p:blipFill>
        <p:spPr>
          <a:xfrm>
            <a:off x="1140205" y="1600201"/>
            <a:ext cx="6666042" cy="3666066"/>
          </a:xfr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98FE6-F4B4-3247-A13D-0D2ED377FED4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026660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Evaluating Accuracy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2818548518"/>
              </p:ext>
            </p:extLst>
          </p:nvPr>
        </p:nvGraphicFramePr>
        <p:xfrm>
          <a:off x="457200" y="1600200"/>
          <a:ext cx="8229600" cy="1854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370840">
                <a:tc rowSpan="2">
                  <a:txBody>
                    <a:bodyPr/>
                    <a:lstStyle/>
                    <a:p>
                      <a:r>
                        <a:rPr lang="en-US" dirty="0" smtClean="0"/>
                        <a:t>Method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Similarity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Analogy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text8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1B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text8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1B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Word2Vec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.671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.636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.297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8000"/>
                          </a:solidFill>
                        </a:rPr>
                        <a:t>.330</a:t>
                      </a:r>
                      <a:endParaRPr lang="en-US" dirty="0">
                        <a:solidFill>
                          <a:srgbClr val="008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pWord2Vec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.682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8000"/>
                          </a:solidFill>
                        </a:rPr>
                        <a:t>.639</a:t>
                      </a:r>
                      <a:endParaRPr lang="en-US" dirty="0">
                        <a:solidFill>
                          <a:srgbClr val="008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.309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.327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pSGNScc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8000"/>
                          </a:solidFill>
                        </a:rPr>
                        <a:t>.685</a:t>
                      </a:r>
                      <a:endParaRPr lang="en-US" dirty="0">
                        <a:solidFill>
                          <a:srgbClr val="008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.633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8000"/>
                          </a:solidFill>
                        </a:rPr>
                        <a:t>.322</a:t>
                      </a:r>
                      <a:endParaRPr lang="en-US" dirty="0">
                        <a:solidFill>
                          <a:srgbClr val="008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.328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422400" y="4182533"/>
            <a:ext cx="65756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text8 – Accuracy of pWord2Vec and </a:t>
            </a:r>
            <a:r>
              <a:rPr lang="en-US" dirty="0" err="1" smtClean="0"/>
              <a:t>pSGNScc</a:t>
            </a:r>
            <a:r>
              <a:rPr lang="en-US" dirty="0" smtClean="0"/>
              <a:t> better than Word2Vec</a:t>
            </a:r>
          </a:p>
          <a:p>
            <a:r>
              <a:rPr lang="en-US" dirty="0" smtClean="0"/>
              <a:t>1B – Accuracy of 3 methods are comparable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98FE6-F4B4-3247-A13D-0D2ED377FED4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66824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Performance impact of T and C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xmlns="" val="3388204968"/>
              </p:ext>
            </p:extLst>
          </p:nvPr>
        </p:nvGraphicFramePr>
        <p:xfrm>
          <a:off x="457200" y="1600200"/>
          <a:ext cx="8229600" cy="1854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83467"/>
                <a:gridCol w="1286933"/>
                <a:gridCol w="1354667"/>
                <a:gridCol w="1286933"/>
                <a:gridCol w="1117600"/>
              </a:tblGrid>
              <a:tr h="370840">
                <a:tc rowSpan="2"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Value</a:t>
                      </a:r>
                      <a:r>
                        <a:rPr lang="en-US" baseline="0" dirty="0" smtClean="0"/>
                        <a:t> of T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100K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500K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1M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2M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Time per epoch</a:t>
                      </a:r>
                      <a:r>
                        <a:rPr lang="en-US" baseline="0" dirty="0" smtClean="0"/>
                        <a:t> (s)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220.13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1" dirty="0" smtClean="0">
                          <a:solidFill>
                            <a:srgbClr val="008000"/>
                          </a:solidFill>
                        </a:rPr>
                        <a:t>196.03</a:t>
                      </a:r>
                      <a:endParaRPr lang="en-US" b="1" dirty="0">
                        <a:solidFill>
                          <a:srgbClr val="008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196.74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201.13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Index time</a:t>
                      </a:r>
                      <a:r>
                        <a:rPr lang="en-US" baseline="0" dirty="0" smtClean="0"/>
                        <a:t> (s)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17.20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14.85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17.97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24.22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Avg. related windows (≤ 8)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5.49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7.53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7.80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7.92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xmlns="" val="3922269699"/>
              </p:ext>
            </p:extLst>
          </p:nvPr>
        </p:nvGraphicFramePr>
        <p:xfrm>
          <a:off x="457203" y="4004689"/>
          <a:ext cx="8229600" cy="1854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83467"/>
                <a:gridCol w="1286933"/>
                <a:gridCol w="1354667"/>
                <a:gridCol w="1286933"/>
                <a:gridCol w="1117600"/>
              </a:tblGrid>
              <a:tr h="370840">
                <a:tc rowSpan="2"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Value</a:t>
                      </a:r>
                      <a:r>
                        <a:rPr lang="en-US" baseline="0" dirty="0" smtClean="0"/>
                        <a:t> of C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16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Time per epoch</a:t>
                      </a:r>
                      <a:r>
                        <a:rPr lang="en-US" baseline="0" dirty="0" smtClean="0"/>
                        <a:t> (s)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258.38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208.45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196.03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1" dirty="0" smtClean="0">
                          <a:solidFill>
                            <a:srgbClr val="008000"/>
                          </a:solidFill>
                        </a:rPr>
                        <a:t>191.08</a:t>
                      </a:r>
                      <a:endParaRPr lang="en-US" b="1" dirty="0">
                        <a:solidFill>
                          <a:srgbClr val="008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Index time</a:t>
                      </a:r>
                      <a:r>
                        <a:rPr lang="en-US" baseline="0" dirty="0" smtClean="0"/>
                        <a:t> (s)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3.16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12.47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14.92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20.25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SGD Computations (s)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129.94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108.27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102.12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95.69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98FE6-F4B4-3247-A13D-0D2ED377FED4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43410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0" dur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1" dur="indefinite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68638"/>
            <a:ext cx="8229600" cy="1143000"/>
          </a:xfrm>
        </p:spPr>
        <p:txBody>
          <a:bodyPr/>
          <a:lstStyle/>
          <a:p>
            <a:r>
              <a:rPr lang="en-US" dirty="0" smtClean="0"/>
              <a:t>Conclusion and Future Work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98FE6-F4B4-3247-A13D-0D2ED377FED4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02862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Proposed new optimization technique called Context Combining for</a:t>
            </a:r>
          </a:p>
          <a:p>
            <a:pPr lvl="1"/>
            <a:r>
              <a:rPr lang="en-US" sz="2400" dirty="0" smtClean="0"/>
              <a:t>Improving floating point throughput</a:t>
            </a:r>
          </a:p>
          <a:p>
            <a:pPr lvl="1"/>
            <a:r>
              <a:rPr lang="en-US" sz="2400" dirty="0" smtClean="0"/>
              <a:t>Reducing Overhead</a:t>
            </a:r>
          </a:p>
          <a:p>
            <a:r>
              <a:rPr lang="en-US" sz="2400" dirty="0" smtClean="0"/>
              <a:t>Speedup of up to 1.28x over pWord2Vec and 3.53x over Google’s multi-threaded C implementation</a:t>
            </a:r>
          </a:p>
          <a:p>
            <a:r>
              <a:rPr lang="en-US" sz="2400" dirty="0" smtClean="0"/>
              <a:t> Accuracy comparable to state-of-the-art implementations</a:t>
            </a: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98FE6-F4B4-3247-A13D-0D2ED377FED4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12116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Future 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Floating point throughput is still less than peak performance</a:t>
            </a:r>
          </a:p>
          <a:p>
            <a:pPr lvl="1"/>
            <a:r>
              <a:rPr lang="en-US" sz="2400" dirty="0" smtClean="0"/>
              <a:t>Explore alternate approaches context combining </a:t>
            </a:r>
          </a:p>
          <a:p>
            <a:r>
              <a:rPr lang="en-US" sz="2400" dirty="0" smtClean="0"/>
              <a:t>Optimize Word2Vec for GPUs</a:t>
            </a:r>
          </a:p>
          <a:p>
            <a:r>
              <a:rPr lang="en-US" sz="2400" dirty="0" smtClean="0"/>
              <a:t>Support distributed memory parallelism</a:t>
            </a: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98FE6-F4B4-3247-A13D-0D2ED377FED4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82692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Wingdings" charset="2"/>
              <a:buAutoNum type="arabicPlain"/>
            </a:pPr>
            <a:r>
              <a:rPr lang="en-US" sz="1800" dirty="0"/>
              <a:t>Tomas </a:t>
            </a:r>
            <a:r>
              <a:rPr lang="en-US" sz="1800" dirty="0" err="1"/>
              <a:t>Mikolov</a:t>
            </a:r>
            <a:r>
              <a:rPr lang="en-US" sz="1800" dirty="0"/>
              <a:t>, Kai Chen, Greg </a:t>
            </a:r>
            <a:r>
              <a:rPr lang="en-US" sz="1800" dirty="0" err="1"/>
              <a:t>Corrado</a:t>
            </a:r>
            <a:r>
              <a:rPr lang="en-US" sz="1800" dirty="0"/>
              <a:t>, and </a:t>
            </a:r>
            <a:r>
              <a:rPr lang="en-US" sz="1800" dirty="0" smtClean="0"/>
              <a:t>Jeffrey </a:t>
            </a:r>
            <a:r>
              <a:rPr lang="en-US" sz="1800" dirty="0"/>
              <a:t>Dean. 2013. </a:t>
            </a:r>
            <a:r>
              <a:rPr lang="en-US" sz="1800" dirty="0" smtClean="0"/>
              <a:t>Efficient Estimation </a:t>
            </a:r>
            <a:r>
              <a:rPr lang="en-US" sz="1800" dirty="0"/>
              <a:t>of Word Representations in Vector Space. In Proc. Int’l. Conf. </a:t>
            </a:r>
            <a:r>
              <a:rPr lang="en-US" sz="1800" dirty="0" smtClean="0"/>
              <a:t>on Learning </a:t>
            </a:r>
            <a:r>
              <a:rPr lang="en-US" sz="1800" dirty="0"/>
              <a:t>Representations (ICLR) Workshop</a:t>
            </a:r>
            <a:r>
              <a:rPr lang="en-US" sz="1800" dirty="0" smtClean="0"/>
              <a:t>.</a:t>
            </a:r>
          </a:p>
          <a:p>
            <a:pPr marL="457200" indent="-457200">
              <a:buFont typeface="Wingdings" charset="2"/>
              <a:buAutoNum type="arabicPlain"/>
            </a:pPr>
            <a:r>
              <a:rPr lang="en-US" sz="1800" dirty="0" err="1" smtClean="0"/>
              <a:t>Shihao</a:t>
            </a:r>
            <a:r>
              <a:rPr lang="en-US" sz="1800" dirty="0" smtClean="0"/>
              <a:t> </a:t>
            </a:r>
            <a:r>
              <a:rPr lang="en-US" sz="1800" dirty="0" err="1"/>
              <a:t>Ji</a:t>
            </a:r>
            <a:r>
              <a:rPr lang="en-US" sz="1800" dirty="0"/>
              <a:t>, </a:t>
            </a:r>
            <a:r>
              <a:rPr lang="en-US" sz="1800" dirty="0" err="1"/>
              <a:t>Nadathur</a:t>
            </a:r>
            <a:r>
              <a:rPr lang="en-US" sz="1800" dirty="0"/>
              <a:t> </a:t>
            </a:r>
            <a:r>
              <a:rPr lang="en-US" sz="1800" dirty="0" err="1"/>
              <a:t>Satish</a:t>
            </a:r>
            <a:r>
              <a:rPr lang="en-US" sz="1800" dirty="0"/>
              <a:t>, Sheng Li, and </a:t>
            </a:r>
            <a:r>
              <a:rPr lang="en-US" sz="1800" dirty="0" err="1"/>
              <a:t>Pradeep</a:t>
            </a:r>
            <a:r>
              <a:rPr lang="en-US" sz="1800" dirty="0"/>
              <a:t> </a:t>
            </a:r>
            <a:r>
              <a:rPr lang="en-US" sz="1800" dirty="0" err="1"/>
              <a:t>Dubey</a:t>
            </a:r>
            <a:r>
              <a:rPr lang="en-US" sz="1800" dirty="0"/>
              <a:t>. 2016. </a:t>
            </a:r>
            <a:r>
              <a:rPr lang="en-US" sz="1800" dirty="0" smtClean="0"/>
              <a:t>Parallelizing Word2Vec </a:t>
            </a:r>
            <a:r>
              <a:rPr lang="en-US" sz="1800" dirty="0"/>
              <a:t>in Multi-Core and Many-Core Architectures. In Proc. Int’l. </a:t>
            </a:r>
            <a:r>
              <a:rPr lang="en-US" sz="1800" dirty="0" smtClean="0"/>
              <a:t>Workshop on Efficient </a:t>
            </a:r>
            <a:r>
              <a:rPr lang="en-US" sz="1800" dirty="0"/>
              <a:t>Methods for Deep Neural Networks (EMDNN)</a:t>
            </a:r>
            <a:r>
              <a:rPr lang="en-US" sz="1800" dirty="0" smtClean="0"/>
              <a:t>.</a:t>
            </a:r>
          </a:p>
          <a:p>
            <a:pPr marL="457200" indent="-457200">
              <a:buFont typeface="Wingdings" charset="2"/>
              <a:buAutoNum type="arabicPlain"/>
            </a:pPr>
            <a:r>
              <a:rPr lang="en-US" sz="1800" dirty="0" err="1"/>
              <a:t>Recht</a:t>
            </a:r>
            <a:r>
              <a:rPr lang="en-US" sz="1800" dirty="0"/>
              <a:t>, B., Re, C., Wright, S., &amp; </a:t>
            </a:r>
            <a:r>
              <a:rPr lang="en-US" sz="1800" dirty="0" err="1"/>
              <a:t>Niu</a:t>
            </a:r>
            <a:r>
              <a:rPr lang="en-US" sz="1800" dirty="0"/>
              <a:t>, F. (2011). </a:t>
            </a:r>
            <a:r>
              <a:rPr lang="en-US" sz="1800" dirty="0" err="1"/>
              <a:t>Hogwild</a:t>
            </a:r>
            <a:r>
              <a:rPr lang="en-US" sz="1800" dirty="0"/>
              <a:t>: A lock-free approach to parallelizing stochastic gradient descent. In </a:t>
            </a:r>
            <a:r>
              <a:rPr lang="en-US" sz="1800" i="1" dirty="0"/>
              <a:t>Advances in neural information processing </a:t>
            </a:r>
            <a:r>
              <a:rPr lang="en-US" sz="1800" i="1" dirty="0" smtClean="0"/>
              <a:t>systems</a:t>
            </a:r>
            <a:r>
              <a:rPr lang="en-US" sz="1800" dirty="0" smtClean="0"/>
              <a:t>.</a:t>
            </a:r>
          </a:p>
          <a:p>
            <a:pPr marL="457200" indent="-457200">
              <a:buFont typeface="Wingdings" charset="2"/>
              <a:buAutoNum type="arabicPlain"/>
            </a:pPr>
            <a:r>
              <a:rPr lang="en-US" sz="1800" dirty="0"/>
              <a:t>Levy, O., Goldberg, Y., &amp; Dagan, I. (2015). Improving distributional similarity with lessons learned from word </a:t>
            </a:r>
            <a:r>
              <a:rPr lang="en-US" sz="1800" dirty="0" err="1"/>
              <a:t>embeddings</a:t>
            </a:r>
            <a:r>
              <a:rPr lang="en-US" sz="1800" dirty="0"/>
              <a:t>. </a:t>
            </a:r>
            <a:r>
              <a:rPr lang="en-US" sz="1800" i="1" dirty="0"/>
              <a:t>Transactions of the Association for Computational Linguistics</a:t>
            </a:r>
            <a:r>
              <a:rPr lang="en-US" sz="1800" dirty="0"/>
              <a:t>, </a:t>
            </a:r>
            <a:r>
              <a:rPr lang="en-US" sz="1800" i="1" dirty="0"/>
              <a:t>3</a:t>
            </a:r>
            <a:r>
              <a:rPr lang="en-US" sz="1800" dirty="0"/>
              <a:t>, 211-225.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98FE6-F4B4-3247-A13D-0D2ED377FED4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684733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Thank You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Questions?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98FE6-F4B4-3247-A13D-0D2ED377FED4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371600" y="1022429"/>
            <a:ext cx="718360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 smtClean="0"/>
              <a:t>Paper </a:t>
            </a:r>
            <a:r>
              <a:rPr lang="fr-FR" sz="2200" dirty="0" err="1" smtClean="0"/>
              <a:t>doi</a:t>
            </a:r>
            <a:r>
              <a:rPr lang="fr-FR" sz="2200" dirty="0"/>
              <a:t>&gt;</a:t>
            </a:r>
            <a:r>
              <a:rPr lang="fr-FR" sz="2200" u="sng" dirty="0">
                <a:hlinkClick r:id="rId2"/>
              </a:rPr>
              <a:t>10.1145/</a:t>
            </a:r>
            <a:r>
              <a:rPr lang="fr-FR" sz="2200" u="sng" dirty="0" smtClean="0">
                <a:hlinkClick r:id="rId2"/>
              </a:rPr>
              <a:t>3149704.3149768</a:t>
            </a:r>
            <a:endParaRPr lang="fr-FR" sz="2200" u="sng" dirty="0" smtClean="0"/>
          </a:p>
          <a:p>
            <a:r>
              <a:rPr lang="fr-FR" sz="2200" dirty="0" err="1" smtClean="0"/>
              <a:t>GitHub</a:t>
            </a:r>
            <a:r>
              <a:rPr lang="fr-FR" sz="2200" dirty="0" smtClean="0"/>
              <a:t> Source code : </a:t>
            </a:r>
            <a:r>
              <a:rPr lang="en-US" sz="2200" dirty="0" err="1"/>
              <a:t>vasupsu</a:t>
            </a:r>
            <a:r>
              <a:rPr lang="en-US" sz="2200" dirty="0"/>
              <a:t>/pWord2Vec.git</a:t>
            </a:r>
            <a:endParaRPr lang="fr-FR" sz="2200" dirty="0"/>
          </a:p>
          <a:p>
            <a:r>
              <a:rPr lang="fr-FR" sz="2200" dirty="0" err="1" smtClean="0"/>
              <a:t>GitHub</a:t>
            </a:r>
            <a:r>
              <a:rPr lang="fr-FR" sz="2200" dirty="0" smtClean="0"/>
              <a:t> </a:t>
            </a:r>
            <a:r>
              <a:rPr lang="fr-FR" sz="2200" dirty="0" err="1" smtClean="0"/>
              <a:t>Artifact</a:t>
            </a:r>
            <a:r>
              <a:rPr lang="fr-FR" sz="2200" dirty="0" smtClean="0"/>
              <a:t> : </a:t>
            </a:r>
            <a:r>
              <a:rPr lang="fr-FR" sz="2200" dirty="0" err="1" smtClean="0"/>
              <a:t>vasupsu</a:t>
            </a:r>
            <a:r>
              <a:rPr lang="fr-FR" sz="2200" dirty="0" smtClean="0"/>
              <a:t>/IA3_Paper16_ArtifactEvaluation.git</a:t>
            </a:r>
            <a:endParaRPr lang="en-US" sz="2200" dirty="0"/>
          </a:p>
        </p:txBody>
      </p:sp>
      <p:sp>
        <p:nvSpPr>
          <p:cNvPr id="3" name="TextBox 2"/>
          <p:cNvSpPr txBox="1"/>
          <p:nvPr/>
        </p:nvSpPr>
        <p:spPr>
          <a:xfrm>
            <a:off x="2319873" y="5808133"/>
            <a:ext cx="458217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 smtClean="0"/>
              <a:t>For questions, Email: vxr162@psu.edu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xmlns="" val="3135800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Skip-gram with Negative Sampling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Skip-gram model is slow due to </a:t>
            </a:r>
            <a:r>
              <a:rPr lang="en-US" sz="2400" dirty="0" err="1" smtClean="0"/>
              <a:t>Softmax</a:t>
            </a:r>
            <a:r>
              <a:rPr lang="en-US" sz="2400" dirty="0" smtClean="0"/>
              <a:t> function – O(V) computation per sample</a:t>
            </a:r>
          </a:p>
          <a:p>
            <a:endParaRPr lang="en-US" sz="2400" dirty="0" smtClean="0"/>
          </a:p>
          <a:p>
            <a:r>
              <a:rPr lang="en-US" sz="2400" dirty="0" smtClean="0"/>
              <a:t>Skip-gram with Negative Sampling (SGNS) model reduces the complexity</a:t>
            </a:r>
          </a:p>
          <a:p>
            <a:pPr lvl="1"/>
            <a:r>
              <a:rPr lang="en-US" sz="2000" dirty="0" smtClean="0"/>
              <a:t>For each target word, choose K words (typically 5-25) at random from the vocabulary</a:t>
            </a:r>
          </a:p>
          <a:p>
            <a:pPr lvl="1"/>
            <a:r>
              <a:rPr lang="en-US" sz="2000" dirty="0" smtClean="0"/>
              <a:t>Target word = positive sample</a:t>
            </a:r>
          </a:p>
          <a:p>
            <a:pPr lvl="1"/>
            <a:r>
              <a:rPr lang="en-US" sz="2000" dirty="0" smtClean="0"/>
              <a:t>K Random words = negative samples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98FE6-F4B4-3247-A13D-0D2ED377FED4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30506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Skip-gram with Negative Sampling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Probability calculation under SGNS model </a:t>
            </a:r>
          </a:p>
          <a:p>
            <a:endParaRPr lang="en-US" sz="2400" dirty="0"/>
          </a:p>
          <a:p>
            <a:endParaRPr lang="en-US" sz="2400" dirty="0" smtClean="0"/>
          </a:p>
          <a:p>
            <a:r>
              <a:rPr lang="en-US" sz="2400" dirty="0" smtClean="0"/>
              <a:t>Time complexity for processing 1 sample: O(K) </a:t>
            </a:r>
          </a:p>
          <a:p>
            <a:endParaRPr lang="en-US" sz="2400" dirty="0"/>
          </a:p>
          <a:p>
            <a:r>
              <a:rPr lang="en-US" sz="2400" dirty="0" smtClean="0"/>
              <a:t>SGNS training: Use SGD to maximize P(</a:t>
            </a:r>
            <a:r>
              <a:rPr lang="en-US" sz="2400" dirty="0" err="1" smtClean="0"/>
              <a:t>y|x</a:t>
            </a:r>
            <a:r>
              <a:rPr lang="en-US" sz="2400" dirty="0" smtClean="0"/>
              <a:t>) for positive samples and minimize for negative samples</a:t>
            </a:r>
          </a:p>
          <a:p>
            <a:endParaRPr lang="en-US" sz="2400" dirty="0"/>
          </a:p>
          <a:p>
            <a:r>
              <a:rPr lang="en-US" sz="2400" dirty="0" smtClean="0"/>
              <a:t>Parallelism achieved by processing contexts asynchronously (ignoring race conditions)</a:t>
            </a:r>
            <a:endParaRPr lang="en-US" sz="2400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793194439"/>
              </p:ext>
            </p:extLst>
          </p:nvPr>
        </p:nvGraphicFramePr>
        <p:xfrm>
          <a:off x="1140884" y="2082811"/>
          <a:ext cx="4751916" cy="826420"/>
        </p:xfrm>
        <a:graphic>
          <a:graphicData uri="http://schemas.openxmlformats.org/presentationml/2006/ole">
            <p:oleObj spid="_x0000_s1123" name="Equation" r:id="rId3" imgW="2614680" imgH="447840" progId="Equation.3">
              <p:embed/>
            </p:oleObj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98FE6-F4B4-3247-A13D-0D2ED377FED4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4902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1442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Context Combining: Steps</a:t>
            </a:r>
            <a:endParaRPr lang="en-US" dirty="0"/>
          </a:p>
        </p:txBody>
      </p:sp>
      <p:sp>
        <p:nvSpPr>
          <p:cNvPr id="4" name="Data 3"/>
          <p:cNvSpPr/>
          <p:nvPr/>
        </p:nvSpPr>
        <p:spPr>
          <a:xfrm>
            <a:off x="1371606" y="1371609"/>
            <a:ext cx="1452834" cy="405716"/>
          </a:xfrm>
          <a:prstGeom prst="flowChartInputOutpu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rgbClr val="000000"/>
                </a:solidFill>
              </a:ln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051475" y="1270011"/>
            <a:ext cx="10238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Training Data</a:t>
            </a:r>
          </a:p>
          <a:p>
            <a:r>
              <a:rPr lang="en-US" sz="1200" dirty="0" smtClean="0"/>
              <a:t>T’ words</a:t>
            </a:r>
            <a:endParaRPr lang="en-US" sz="1200" dirty="0"/>
          </a:p>
        </p:txBody>
      </p:sp>
      <p:sp>
        <p:nvSpPr>
          <p:cNvPr id="6" name="Rectangle 5"/>
          <p:cNvSpPr/>
          <p:nvPr/>
        </p:nvSpPr>
        <p:spPr>
          <a:xfrm>
            <a:off x="910152" y="2116673"/>
            <a:ext cx="2368742" cy="528901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rgbClr val="000000"/>
                </a:solidFill>
              </a:rPr>
              <a:t>Read T words, Mark target words as Unprocessed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231879" y="2980262"/>
            <a:ext cx="1734935" cy="321739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rgbClr val="000000"/>
                </a:solidFill>
              </a:rPr>
              <a:t>Preprocess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1874" y="3572917"/>
            <a:ext cx="3131346" cy="406418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rgbClr val="000000"/>
                </a:solidFill>
              </a:rPr>
              <a:t>Select an unprocessed target word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9650" y="4301031"/>
            <a:ext cx="2581244" cy="304842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rgbClr val="000000"/>
                </a:solidFill>
              </a:rPr>
              <a:t>Identify C-1 </a:t>
            </a:r>
            <a:r>
              <a:rPr lang="en-US" sz="1200" i="1" dirty="0" smtClean="0">
                <a:solidFill>
                  <a:srgbClr val="000000"/>
                </a:solidFill>
              </a:rPr>
              <a:t>related</a:t>
            </a:r>
            <a:r>
              <a:rPr lang="en-US" sz="1200" dirty="0" smtClean="0">
                <a:solidFill>
                  <a:srgbClr val="000000"/>
                </a:solidFill>
              </a:rPr>
              <a:t> windows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248815" y="4927603"/>
            <a:ext cx="1734935" cy="33831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rgbClr val="000000"/>
                </a:solidFill>
              </a:rPr>
              <a:t>Perform SGD updates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93219" y="5571059"/>
            <a:ext cx="2459589" cy="336582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rgbClr val="000000"/>
                </a:solidFill>
              </a:rPr>
              <a:t>Mark target words as Processed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3" name="Decision 2"/>
          <p:cNvSpPr/>
          <p:nvPr/>
        </p:nvSpPr>
        <p:spPr>
          <a:xfrm>
            <a:off x="7010405" y="5249329"/>
            <a:ext cx="1659460" cy="973689"/>
          </a:xfrm>
          <a:prstGeom prst="flowChartDecision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rgbClr val="000000"/>
                </a:solidFill>
              </a:rPr>
              <a:t>Epoch &lt; I ?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13" name="Decision 12"/>
          <p:cNvSpPr/>
          <p:nvPr/>
        </p:nvSpPr>
        <p:spPr>
          <a:xfrm>
            <a:off x="3928530" y="5248983"/>
            <a:ext cx="2658533" cy="973689"/>
          </a:xfrm>
          <a:prstGeom prst="flowChartDecision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rgbClr val="000000"/>
                </a:solidFill>
              </a:rPr>
              <a:t>Unprocessed target word present?</a:t>
            </a:r>
            <a:endParaRPr lang="en-US" sz="1200" dirty="0">
              <a:solidFill>
                <a:srgbClr val="000000"/>
              </a:solidFill>
            </a:endParaRPr>
          </a:p>
        </p:txBody>
      </p:sp>
      <p:cxnSp>
        <p:nvCxnSpPr>
          <p:cNvPr id="15" name="Straight Arrow Connector 14"/>
          <p:cNvCxnSpPr>
            <a:stCxn id="4" idx="4"/>
            <a:endCxn id="6" idx="0"/>
          </p:cNvCxnSpPr>
          <p:nvPr/>
        </p:nvCxnSpPr>
        <p:spPr>
          <a:xfrm flipH="1">
            <a:off x="2094523" y="1777325"/>
            <a:ext cx="3500" cy="339348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6" idx="2"/>
            <a:endCxn id="7" idx="0"/>
          </p:cNvCxnSpPr>
          <p:nvPr/>
        </p:nvCxnSpPr>
        <p:spPr>
          <a:xfrm>
            <a:off x="2094523" y="2645574"/>
            <a:ext cx="4824" cy="334688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7" idx="2"/>
            <a:endCxn id="8" idx="0"/>
          </p:cNvCxnSpPr>
          <p:nvPr/>
        </p:nvCxnSpPr>
        <p:spPr>
          <a:xfrm>
            <a:off x="2099347" y="3302001"/>
            <a:ext cx="8200" cy="270916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8" idx="2"/>
            <a:endCxn id="9" idx="0"/>
          </p:cNvCxnSpPr>
          <p:nvPr/>
        </p:nvCxnSpPr>
        <p:spPr>
          <a:xfrm>
            <a:off x="2107547" y="3979335"/>
            <a:ext cx="12725" cy="321696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9" idx="2"/>
            <a:endCxn id="10" idx="0"/>
          </p:cNvCxnSpPr>
          <p:nvPr/>
        </p:nvCxnSpPr>
        <p:spPr>
          <a:xfrm flipH="1">
            <a:off x="2116283" y="4605873"/>
            <a:ext cx="3989" cy="32173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10" idx="2"/>
            <a:endCxn id="11" idx="0"/>
          </p:cNvCxnSpPr>
          <p:nvPr/>
        </p:nvCxnSpPr>
        <p:spPr>
          <a:xfrm>
            <a:off x="2116283" y="5265916"/>
            <a:ext cx="6731" cy="305143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11" idx="3"/>
            <a:endCxn id="13" idx="1"/>
          </p:cNvCxnSpPr>
          <p:nvPr/>
        </p:nvCxnSpPr>
        <p:spPr>
          <a:xfrm flipV="1">
            <a:off x="3352808" y="5735828"/>
            <a:ext cx="575722" cy="3522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stCxn id="13" idx="3"/>
            <a:endCxn id="3" idx="1"/>
          </p:cNvCxnSpPr>
          <p:nvPr/>
        </p:nvCxnSpPr>
        <p:spPr>
          <a:xfrm>
            <a:off x="6587063" y="5735828"/>
            <a:ext cx="423342" cy="346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Elbow Connector 50"/>
          <p:cNvCxnSpPr>
            <a:stCxn id="13" idx="0"/>
            <a:endCxn id="8" idx="3"/>
          </p:cNvCxnSpPr>
          <p:nvPr/>
        </p:nvCxnSpPr>
        <p:spPr>
          <a:xfrm rot="16200000" flipV="1">
            <a:off x="3729081" y="3720266"/>
            <a:ext cx="1472857" cy="1584577"/>
          </a:xfrm>
          <a:prstGeom prst="bentConnector2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Elbow Connector 51"/>
          <p:cNvCxnSpPr>
            <a:stCxn id="3" idx="0"/>
            <a:endCxn id="6" idx="3"/>
          </p:cNvCxnSpPr>
          <p:nvPr/>
        </p:nvCxnSpPr>
        <p:spPr>
          <a:xfrm rot="16200000" flipV="1">
            <a:off x="4125413" y="1534606"/>
            <a:ext cx="2868205" cy="4561241"/>
          </a:xfrm>
          <a:prstGeom prst="bentConnector2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6614754" y="6436753"/>
            <a:ext cx="2459589" cy="336582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rgbClr val="000000"/>
                </a:solidFill>
              </a:rPr>
              <a:t>Output Model Parameters</a:t>
            </a:r>
            <a:endParaRPr lang="en-US" sz="1200" dirty="0">
              <a:solidFill>
                <a:srgbClr val="000000"/>
              </a:solidFill>
            </a:endParaRPr>
          </a:p>
        </p:txBody>
      </p:sp>
      <p:cxnSp>
        <p:nvCxnSpPr>
          <p:cNvPr id="56" name="Straight Arrow Connector 55"/>
          <p:cNvCxnSpPr>
            <a:stCxn id="3" idx="2"/>
            <a:endCxn id="55" idx="0"/>
          </p:cNvCxnSpPr>
          <p:nvPr/>
        </p:nvCxnSpPr>
        <p:spPr>
          <a:xfrm>
            <a:off x="7840135" y="6223018"/>
            <a:ext cx="4414" cy="213735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6587067" y="5367867"/>
            <a:ext cx="455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No</a:t>
            </a:r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7366003" y="3793067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Yes</a:t>
            </a:r>
            <a:endParaRPr lang="en-US" dirty="0"/>
          </a:p>
        </p:txBody>
      </p:sp>
      <p:sp>
        <p:nvSpPr>
          <p:cNvPr id="61" name="TextBox 60"/>
          <p:cNvSpPr txBox="1"/>
          <p:nvPr/>
        </p:nvSpPr>
        <p:spPr>
          <a:xfrm>
            <a:off x="7264398" y="6079068"/>
            <a:ext cx="455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No</a:t>
            </a:r>
            <a:endParaRPr lang="en-US" dirty="0"/>
          </a:p>
        </p:txBody>
      </p:sp>
      <p:sp>
        <p:nvSpPr>
          <p:cNvPr id="63" name="Slide Number Placeholder 6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98FE6-F4B4-3247-A13D-0D2ED377FED4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385846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Skip-gram with Negative Sampling</a:t>
            </a:r>
            <a:endParaRPr lang="en-US" dirty="0"/>
          </a:p>
        </p:txBody>
      </p:sp>
      <p:pic>
        <p:nvPicPr>
          <p:cNvPr id="6" name="Content Placeholder 5" descr="sentence2.pdf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-1927" b="346"/>
          <a:stretch/>
        </p:blipFill>
        <p:spPr>
          <a:xfrm>
            <a:off x="1185334" y="1151470"/>
            <a:ext cx="6350000" cy="1332716"/>
          </a:xfrm>
        </p:spPr>
      </p:pic>
      <p:pic>
        <p:nvPicPr>
          <p:cNvPr id="7" name="Picture 6" descr="oW2v_ex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103966" y="2459562"/>
            <a:ext cx="4597400" cy="2616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4534" y="5704468"/>
            <a:ext cx="6092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Drawback: Vector products are memory-bound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039431"/>
            <a:ext cx="14462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Input context</a:t>
            </a:r>
            <a:endParaRPr lang="en-US" dirty="0"/>
          </a:p>
        </p:txBody>
      </p:sp>
      <p:cxnSp>
        <p:nvCxnSpPr>
          <p:cNvPr id="11" name="Straight Arrow Connector 10"/>
          <p:cNvCxnSpPr/>
          <p:nvPr/>
        </p:nvCxnSpPr>
        <p:spPr>
          <a:xfrm flipH="1" flipV="1">
            <a:off x="3860801" y="1913467"/>
            <a:ext cx="948266" cy="287866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859871" y="2032003"/>
            <a:ext cx="1621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Target word</a:t>
            </a:r>
            <a:endParaRPr lang="en-US" dirty="0"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98FE6-F4B4-3247-A13D-0D2ED377FED4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89267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20" dur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1" dur="indefinite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23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4" dur="indefinite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26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7" dur="indefinite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29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0" dur="indefinite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32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3" dur="indefinite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9" grpId="1"/>
      <p:bldP spid="15" grpId="0"/>
      <p:bldP spid="15" grpId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2855</TotalTime>
  <Words>1132</Words>
  <Application>Microsoft Macintosh PowerPoint</Application>
  <PresentationFormat>On-screen Show (4:3)</PresentationFormat>
  <Paragraphs>291</Paragraphs>
  <Slides>30</Slides>
  <Notes>3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2" baseType="lpstr">
      <vt:lpstr>Office Theme</vt:lpstr>
      <vt:lpstr>Equation</vt:lpstr>
      <vt:lpstr>Optimizing Word2Vec Performance on Multicore Systems</vt:lpstr>
      <vt:lpstr>Acknowledgement</vt:lpstr>
      <vt:lpstr>Outline</vt:lpstr>
      <vt:lpstr>Word embedding</vt:lpstr>
      <vt:lpstr>Word2Vec: A Word Embedding Technique</vt:lpstr>
      <vt:lpstr>Two applications of Word2Vec</vt:lpstr>
      <vt:lpstr>Aim</vt:lpstr>
      <vt:lpstr>Training SGNS model</vt:lpstr>
      <vt:lpstr>Prior Work</vt:lpstr>
      <vt:lpstr>pWord2Vec</vt:lpstr>
      <vt:lpstr>Context Combining</vt:lpstr>
      <vt:lpstr>Context Combining: Overview</vt:lpstr>
      <vt:lpstr>Context Combining: Steps</vt:lpstr>
      <vt:lpstr>Preprocessing</vt:lpstr>
      <vt:lpstr>Experiments and Results</vt:lpstr>
      <vt:lpstr>Experimental Setup</vt:lpstr>
      <vt:lpstr>Multi-core performance comparison</vt:lpstr>
      <vt:lpstr>Breakdown of time</vt:lpstr>
      <vt:lpstr>Parallel Scaling</vt:lpstr>
      <vt:lpstr>Evaluating Accuracy</vt:lpstr>
      <vt:lpstr>Performance impact of T and C</vt:lpstr>
      <vt:lpstr>Conclusion and Future Work</vt:lpstr>
      <vt:lpstr>Conclusion</vt:lpstr>
      <vt:lpstr>Future Work</vt:lpstr>
      <vt:lpstr>References</vt:lpstr>
      <vt:lpstr>Thank You</vt:lpstr>
      <vt:lpstr>Skip-gram with Negative Sampling</vt:lpstr>
      <vt:lpstr>Skip-gram with Negative Sampling</vt:lpstr>
      <vt:lpstr>Context Combining: Steps</vt:lpstr>
      <vt:lpstr>Skip-gram with Negative Sampling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Vasudevan Rengasamy</dc:creator>
  <cp:lastModifiedBy>mnadims</cp:lastModifiedBy>
  <cp:revision>273</cp:revision>
  <dcterms:created xsi:type="dcterms:W3CDTF">2017-11-09T00:44:02Z</dcterms:created>
  <dcterms:modified xsi:type="dcterms:W3CDTF">2025-12-29T14:50:41Z</dcterms:modified>
</cp:coreProperties>
</file>